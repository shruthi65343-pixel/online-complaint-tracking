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Onest" panose="020B0604020202020204" charset="0"/>
      <p:regular r:id="rId10"/>
    </p:embeddedFont>
    <p:embeddedFont>
      <p:font typeface="Onest Bold" panose="020B0604020202020204" charset="0"/>
      <p:regular r:id="rId11"/>
    </p:embeddedFont>
    <p:embeddedFont>
      <p:font typeface="Onest Medium" panose="020B0604020202020204" charset="0"/>
      <p:regular r:id="rId12"/>
    </p:embeddedFont>
    <p:embeddedFont>
      <p:font typeface="Unbounded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889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4F68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613093"/>
            <a:ext cx="370195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PROBLEM STATEMENT 78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HACKATHON PROTOTYPE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189" y="1930400"/>
            <a:ext cx="8178595" cy="2889845"/>
          </a:xfrm>
          <a:prstGeom prst="roundRect">
            <a:avLst>
              <a:gd name="adj" fmla="val 4219"/>
            </a:avLst>
          </a:prstGeom>
          <a:solidFill>
            <a:srgbClr val="14181C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2282308"/>
            <a:ext cx="7721407" cy="9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8000" b="1" kern="100" spc="-24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SafeTrack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85783" y="3387256"/>
            <a:ext cx="7721407" cy="124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8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Smart Online Complaint Tracking and Emergency Escalation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5156" y="4826000"/>
            <a:ext cx="5987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secure platform to submit, track, and manage complaints with voluntary location sharing and emergency support.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5156" y="6126004"/>
            <a:ext cx="59879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3000"/>
              </a:lnSpc>
            </a:pPr>
            <a:r>
              <a:rPr lang="en-US" sz="1300" kern="100" spc="1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Team: Pragna Sree Allu · </a:t>
            </a:r>
            <a:r>
              <a:rPr lang="en-US" sz="1300" kern="100" spc="13" dirty="0" err="1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B.Shruthi</a:t>
            </a:r>
            <a:r>
              <a:rPr lang="en-US" sz="1300" kern="100" spc="1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· </a:t>
            </a:r>
            <a:r>
              <a:rPr lang="en-US" sz="1300" kern="100" spc="13" dirty="0" err="1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B.Indu</a:t>
            </a:r>
            <a:r>
              <a:rPr lang="en-US" sz="1300" kern="100" spc="1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· </a:t>
            </a:r>
            <a:r>
              <a:rPr lang="en-US" sz="1300" kern="100" spc="13" dirty="0" err="1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R.Lekha</a:t>
            </a:r>
            <a:r>
              <a:rPr lang="en-US" sz="1300" kern="100" spc="1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Reddy </a:t>
            </a:r>
            <a:endParaRPr lang="en-US" sz="13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Web Development · MERN Stack · Social Impact &amp; Public Safety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312142" y="736600"/>
            <a:ext cx="711182" cy="711200"/>
          </a:xfrm>
          <a:prstGeom prst="ellipse">
            <a:avLst/>
          </a:prstGeom>
          <a:solidFill>
            <a:srgbClr val="F5E17A"/>
          </a:solidFill>
          <a:ln/>
        </p:spPr>
      </p:sp>
      <p:sp>
        <p:nvSpPr>
          <p:cNvPr id="9" name="Shape 7"/>
          <p:cNvSpPr/>
          <p:nvPr/>
        </p:nvSpPr>
        <p:spPr>
          <a:xfrm>
            <a:off x="7873803" y="5461000"/>
            <a:ext cx="507987" cy="508000"/>
          </a:xfrm>
          <a:prstGeom prst="ellipse">
            <a:avLst/>
          </a:prstGeom>
          <a:solidFill>
            <a:srgbClr val="1FA08E"/>
          </a:solidFill>
          <a:ln/>
        </p:spPr>
      </p:sp>
      <p:sp>
        <p:nvSpPr>
          <p:cNvPr id="10" name="Shape 8"/>
          <p:cNvSpPr/>
          <p:nvPr/>
        </p:nvSpPr>
        <p:spPr>
          <a:xfrm>
            <a:off x="8711982" y="1193800"/>
            <a:ext cx="2412940" cy="4445000"/>
          </a:xfrm>
          <a:prstGeom prst="roundRect">
            <a:avLst>
              <a:gd name="adj" fmla="val 15158"/>
            </a:avLst>
          </a:prstGeom>
          <a:solidFill>
            <a:srgbClr val="14181C"/>
          </a:solidFill>
          <a:ln w="88898">
            <a:solidFill>
              <a:srgbClr val="14181C"/>
            </a:solidFill>
            <a:prstDash val="solid"/>
          </a:ln>
          <a:effectLst>
            <a:outerShdw blurRad="405130" dist="201930" dir="5400000" algn="bl" rotWithShape="0">
              <a:srgbClr val="14181C">
                <a:alpha val="5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80" y="1282700"/>
            <a:ext cx="2235144" cy="426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40FFEB-717E-AECB-D356-9ABE10C13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418" y="6546834"/>
            <a:ext cx="1587582" cy="3111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156"/>
            <a:ext cx="414525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THE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0621"/>
            <a:ext cx="3535671" cy="2486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8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Complaint handling is hard to see, hard to trust, and harder to escalate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604220"/>
            <a:ext cx="353567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Judges should see the gap: transparency for users, organized records for authorities, and safety-aware handling for urgent reports.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59534" y="0"/>
            <a:ext cx="7132161" cy="6858000"/>
          </a:xfrm>
          <a:prstGeom prst="rect">
            <a:avLst/>
          </a:prstGeom>
          <a:solidFill>
            <a:srgbClr val="3F5669"/>
          </a:solidFill>
          <a:ln/>
        </p:spPr>
      </p:sp>
      <p:sp>
        <p:nvSpPr>
          <p:cNvPr id="6" name="Text 4"/>
          <p:cNvSpPr/>
          <p:nvPr/>
        </p:nvSpPr>
        <p:spPr>
          <a:xfrm>
            <a:off x="5338927" y="284956"/>
            <a:ext cx="68527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WHY IT MATTERS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927" y="679450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38927" y="1241425"/>
            <a:ext cx="31342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Hard to see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38927" y="1724025"/>
            <a:ext cx="313424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Traditional processes can create delays and limited status visibility.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927" y="2790130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8927" y="3352105"/>
            <a:ext cx="31342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Hard to trust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338927" y="3834705"/>
            <a:ext cx="313424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People may not know whom to contact when an incident is urgent.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961" y="679450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7961" y="1241425"/>
            <a:ext cx="31343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Sensitive by design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777961" y="1724025"/>
            <a:ext cx="313434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Sensitive complaints need confidentiality, careful access control, and clear guidance.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961" y="2790130"/>
            <a:ext cx="431789" cy="431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7961" y="3352105"/>
            <a:ext cx="31343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Accountable records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777961" y="3834705"/>
            <a:ext cx="313434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Manual records make tracking, accountability, and prioritization difficult.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15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4875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One platform connects visibility, safety guidance, and authorized case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1358900"/>
            <a:ext cx="3454314" cy="4581327"/>
          </a:xfrm>
          <a:prstGeom prst="rect">
            <a:avLst/>
          </a:prstGeom>
          <a:solidFill>
            <a:srgbClr val="3F566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1562100"/>
            <a:ext cx="431789" cy="431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072" y="1562100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780" y="2124075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Visibility &amp; access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12780" y="2606675"/>
            <a:ext cx="3047924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Unique complaint ID; Pending → In Progress → Resolved tracking; QR tracking, timelines, and feedback. English, Telugu, and Hindi interfaces.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368691" y="1358900"/>
            <a:ext cx="3454314" cy="4581327"/>
          </a:xfrm>
          <a:prstGeom prst="rect">
            <a:avLst/>
          </a:prstGeom>
          <a:solidFill>
            <a:srgbClr val="3F5669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6" y="1562100"/>
            <a:ext cx="431789" cy="4318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178" y="1562100"/>
            <a:ext cx="431789" cy="431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1886" y="2124075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Safety guidance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4571886" y="2606675"/>
            <a:ext cx="3047924" cy="31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Direct phone link to India’s emergency number 112. Police automation only through an authorized, configured service with confirmed success. Voluntary current-location sharing or a manual incident address; evidence uploads; privacy-aware reporting.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8127797" y="1358900"/>
            <a:ext cx="3454314" cy="4581327"/>
          </a:xfrm>
          <a:prstGeom prst="rect">
            <a:avLst/>
          </a:prstGeom>
          <a:solidFill>
            <a:srgbClr val="3F5669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992" y="1562100"/>
            <a:ext cx="431789" cy="43180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8284" y="1562100"/>
            <a:ext cx="431789" cy="4318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330992" y="2124075"/>
            <a:ext cx="304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Case response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8330992" y="2606675"/>
            <a:ext cx="3047924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Priority classification; escalation reminders; overdue tracking; feedback. Admin analytics; role-based access; duplicate detection with human review.</a:t>
            </a:r>
            <a:endParaRPr lang="en-US" sz="1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4DFE4E3-23FB-5011-C3F4-1F92141264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7909" y="6534540"/>
            <a:ext cx="1663786" cy="266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15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THE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0621"/>
            <a:ext cx="109725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8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visible, permission-aware case timeline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32037"/>
          <a:ext cx="10972525" cy="3355097"/>
        </p:xfrm>
        <a:graphic>
          <a:graphicData uri="http://schemas.openxmlformats.org/drawingml/2006/table">
            <a:tbl>
              <a:tblPr/>
              <a:tblGrid>
                <a:gridCol w="219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Input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Register, choose an available reporting option, add category/details, and optionally share location or evidence.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Processing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Validate data, authenticate permissions, and store the complaint and history in MongoDB.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Algorithm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Categorize, assign priority, generate an ID, check possible duplicates, and apply escalation rules.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Output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Return the complaint ID, timeline, status updates, and relevant notifications to the user dashboard.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A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09585" y="5080893"/>
            <a:ext cx="5333867" cy="1162645"/>
          </a:xfrm>
          <a:prstGeom prst="rect">
            <a:avLst/>
          </a:prstGeom>
          <a:solidFill>
            <a:srgbClr val="3F5669"/>
          </a:solidFill>
          <a:ln/>
        </p:spPr>
      </p:sp>
      <p:sp>
        <p:nvSpPr>
          <p:cNvPr id="6" name="Text 3"/>
          <p:cNvSpPr/>
          <p:nvPr/>
        </p:nvSpPr>
        <p:spPr>
          <a:xfrm>
            <a:off x="711182" y="5188049"/>
            <a:ext cx="52322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AUTHORIZED STAFF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1182" y="5515868"/>
            <a:ext cx="51306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Review cases, record actions, and flag high-priority complaints.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8244" y="5080893"/>
            <a:ext cx="5333867" cy="1162645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6"/>
          <p:cNvSpPr/>
          <p:nvPr/>
        </p:nvSpPr>
        <p:spPr>
          <a:xfrm>
            <a:off x="6349841" y="5188049"/>
            <a:ext cx="52322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EMERGENCY BOUNDARY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49841" y="5515868"/>
            <a:ext cx="523226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Direct 112 call link; location sharing is voluntary.</a:t>
            </a: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9FF28A-F2CB-5E12-0AFA-A5FD7AF6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214" y="6535406"/>
            <a:ext cx="1663786" cy="266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15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56649"/>
            <a:ext cx="10972526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practical MERN architecture with explainable safety logic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57425"/>
            <a:ext cx="5333867" cy="3899991"/>
          </a:xfrm>
          <a:prstGeom prst="rect">
            <a:avLst/>
          </a:prstGeom>
          <a:solidFill>
            <a:srgbClr val="3F5669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491581"/>
            <a:ext cx="510527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STACK &amp;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8179" y="2819400"/>
            <a:ext cx="4876678" cy="1819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Frontend: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React.js, Vite, TypeScript, Tailwind CSS, Recharts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Backend: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Node.js + Express.js REST APIs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Data &amp; security: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MongoDB/Mongoose, JWT, bcrypt, Zod validation, role-based access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4771132"/>
            <a:ext cx="510527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ARCHITECTURE 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8179" y="5098951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React Frontend → Express REST API → MongoDB Database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2257425"/>
            <a:ext cx="5333867" cy="3899991"/>
          </a:xfrm>
          <a:prstGeom prst="rect">
            <a:avLst/>
          </a:prstGeom>
          <a:solidFill>
            <a:srgbClr val="3F5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2491581"/>
            <a:ext cx="510527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EXPLAINABLE SAFETY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6838" y="2819400"/>
            <a:ext cx="4876678" cy="136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Rule-based priority and overdue escalation.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AI-assisted categorization only when configured.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Duplicate detection with human review.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6838" y="4312047"/>
            <a:ext cx="510527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THEORETICAL COMPLEXITY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6838" y="4639866"/>
            <a:ext cx="487667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ID lookup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≈ O(1) average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Sort N complaints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O(N log N)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Simple text scan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≈ O(N × L)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6838" y="5707400"/>
            <a:ext cx="510527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Theoretical estimates, not measured benchmarks.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A55601-6821-50B7-4121-20B7BB39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076" y="6502775"/>
            <a:ext cx="2554924" cy="3253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8521"/>
            <a:ext cx="109725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8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Demo the journey with sample data — then prove the test surface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654373"/>
            <a:ext cx="5333867" cy="4689277"/>
          </a:xfrm>
          <a:prstGeom prst="rect">
            <a:avLst/>
          </a:prstGeom>
          <a:solidFill>
            <a:srgbClr val="3F5669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812330"/>
            <a:ext cx="518147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DEMO JOURNEY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981" y="2140148"/>
            <a:ext cx="502907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Registration form → user dashboard → complaint timeline → optional location sharing → admin dashboard → emergency SOS link.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1981" y="3278485"/>
            <a:ext cx="518147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ILLUSTRATIVE RECORD · SAMPLE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981" y="3603950"/>
            <a:ext cx="502907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8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ST-2026-001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1981" y="4195366"/>
            <a:ext cx="5029074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Category: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Public Safety · </a:t>
            </a: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Status: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In Progress · </a:t>
            </a: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Priority: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High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Location: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User-provided sample location · </a:t>
            </a:r>
            <a:r>
              <a:rPr lang="en-US" sz="17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Time:</a:t>
            </a: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Sample timestamp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1654373"/>
            <a:ext cx="5333867" cy="4689277"/>
          </a:xfrm>
          <a:prstGeom prst="rect">
            <a:avLst/>
          </a:prstGeom>
          <a:solidFill>
            <a:srgbClr val="4F687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640" y="1812330"/>
            <a:ext cx="518147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TESTING CHECKLIST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640" y="2140148"/>
            <a:ext cx="502907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Registration · login · complaint creation · tracking · status updates · role permissions · location permissions · emergency contact links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640" y="3211810"/>
            <a:ext cx="518147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RESULTS TO VERIFY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640" y="3539629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[Measured response time] · [Test pass rate] · [Other verified result]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640" y="4298255"/>
            <a:ext cx="518147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91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640" y="4626074"/>
            <a:ext cx="5029074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Better visibility, more organized case management, faster identification of urgent reports, and improved accountability and accessibility. Label all records and metrics as sample until verified.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20E172-A36C-7153-BF02-8FCF9B582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736" y="6501607"/>
            <a:ext cx="2216264" cy="340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356" cy="6858000"/>
          </a:xfrm>
          <a:prstGeom prst="rect">
            <a:avLst/>
          </a:prstGeom>
          <a:solidFill>
            <a:srgbClr val="3F5669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705"/>
            <a:ext cx="9143771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84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NEXT HORIZON · TRUST BEFORE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24945"/>
            <a:ext cx="8534187" cy="1049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50" b="1" kern="100" spc="-10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Build trust now; scale safety responsibly next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09585" y="2110055"/>
            <a:ext cx="4114697" cy="304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Prototype scope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09585" y="2541191"/>
            <a:ext cx="4114697" cy="1107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Complaint submission and tracking; role-based dashboards; emergency guidance. During the demo, mark completed versus planned features.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074" y="2110055"/>
            <a:ext cx="4114697" cy="304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Next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074" y="2541191"/>
            <a:ext cx="4114697" cy="1384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After authorization: verified police/government APIs; configured SMS, email, or push notifications; AI categorization evaluated with human review.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585" y="4235519"/>
            <a:ext cx="4114697" cy="304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Trust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09585" y="4666655"/>
            <a:ext cx="4114697" cy="1107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Stronger evidence protection; audit monitoring; security/privacy/usability testing; expanded accessibility and language support.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074" y="4235519"/>
            <a:ext cx="4114697" cy="304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Scale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029074" y="4666655"/>
            <a:ext cx="4114697" cy="1107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Indexes, pagination; secure cloud deployment, monitoring, backups, access logging; support for more institutions and complaint categories.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09585" y="6215459"/>
            <a:ext cx="9143771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SafeTrack aims to make complaint handling more transparent, accessible, and safety-focused.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6584950"/>
            <a:ext cx="914377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941" y="609600"/>
            <a:ext cx="1219170" cy="563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AD23D1-7C69-B0AA-4507-828EF2A3E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7482" y="6446143"/>
            <a:ext cx="1314518" cy="4000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768</Words>
  <Application>Microsoft Office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Onest</vt:lpstr>
      <vt:lpstr>Onest Medium</vt:lpstr>
      <vt:lpstr>Unbounded Bold</vt:lpstr>
      <vt:lpstr>Arial</vt:lpstr>
      <vt:lpstr>Onest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Pragna Sree</cp:lastModifiedBy>
  <cp:revision>2</cp:revision>
  <dcterms:created xsi:type="dcterms:W3CDTF">2026-10-10T06:17:09Z</dcterms:created>
  <dcterms:modified xsi:type="dcterms:W3CDTF">2026-10-10T06:20:01Z</dcterms:modified>
</cp:coreProperties>
</file>